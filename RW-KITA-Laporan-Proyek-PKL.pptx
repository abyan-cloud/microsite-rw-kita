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8adabd99a4c40" /><Relationship Type="http://schemas.openxmlformats.org/officeDocument/2006/relationships/extended-properties" Target="/docProps/app.xml" Id="Rc57120b056734596" /><Relationship Type="http://schemas.openxmlformats.org/officeDocument/2006/relationships/officeDocument" Target="/ppt/presentation.xml" Id="Rb3fe9cece3674f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4d5e82ff0147a2"/>
  </p:sldMasterIdLst>
  <p:notesMasterIdLst>
    <p:notesMasterId xmlns:r="http://schemas.openxmlformats.org/officeDocument/2006/relationships" r:id="Re47b7afd7f994e1b"/>
  </p:notesMasterIdLst>
  <p:sldIdLst>
    <p:sldId xmlns:r="http://schemas.openxmlformats.org/officeDocument/2006/relationships" id="256" r:id="R1f91d9158f144f59"/>
    <p:sldId xmlns:r="http://schemas.openxmlformats.org/officeDocument/2006/relationships" id="257" r:id="R8acb19616330473f"/>
    <p:sldId xmlns:r="http://schemas.openxmlformats.org/officeDocument/2006/relationships" id="258" r:id="Rc85c8d06e9d94a9f"/>
    <p:sldId xmlns:r="http://schemas.openxmlformats.org/officeDocument/2006/relationships" id="259" r:id="R9b9ba33f4fff4d9a"/>
    <p:sldId xmlns:r="http://schemas.openxmlformats.org/officeDocument/2006/relationships" id="260" r:id="Rdec178c6ea924ad6"/>
    <p:sldId xmlns:r="http://schemas.openxmlformats.org/officeDocument/2006/relationships" id="261" r:id="Re75074d088d74cac"/>
    <p:sldId xmlns:r="http://schemas.openxmlformats.org/officeDocument/2006/relationships" id="262" r:id="R6cafa2e76fe54278"/>
    <p:sldId xmlns:r="http://schemas.openxmlformats.org/officeDocument/2006/relationships" id="263" r:id="Rd997cfe74adf4132"/>
    <p:sldId xmlns:r="http://schemas.openxmlformats.org/officeDocument/2006/relationships" id="264" r:id="Rec782011f1cc4dec"/>
    <p:sldId xmlns:r="http://schemas.openxmlformats.org/officeDocument/2006/relationships" id="265" r:id="R8e3470c9e0e940ef"/>
    <p:sldId xmlns:r="http://schemas.openxmlformats.org/officeDocument/2006/relationships" id="266" r:id="Re00dc42808074897"/>
    <p:sldId xmlns:r="http://schemas.openxmlformats.org/officeDocument/2006/relationships" id="267" r:id="Ra50d396c7683485b"/>
    <p:sldId xmlns:r="http://schemas.openxmlformats.org/officeDocument/2006/relationships" id="268" r:id="R3dde0bfd98d845eb"/>
    <p:sldId xmlns:r="http://schemas.openxmlformats.org/officeDocument/2006/relationships" id="269" r:id="R3a8ea35f0eb242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6f6142968f46c9" /><Relationship Type="http://schemas.openxmlformats.org/officeDocument/2006/relationships/slideMaster" Target="/ppt/slideMasters/slideMaster1.xml" Id="Ra04d5e82ff0147a2" /><Relationship Type="http://schemas.openxmlformats.org/officeDocument/2006/relationships/notesMaster" Target="/ppt/notesMasters/notesMaster1.xml" Id="Re47b7afd7f994e1b" /><Relationship Type="http://schemas.openxmlformats.org/officeDocument/2006/relationships/presProps" Target="/ppt/presProps.xml" Id="R41d7166242914650" /><Relationship Type="http://schemas.openxmlformats.org/officeDocument/2006/relationships/tableStyles" Target="/ppt/tableStyles.xml" Id="R7ee1fa70b5284671" /><Relationship Type="http://schemas.openxmlformats.org/officeDocument/2006/relationships/slide" Target="/ppt/slides/slide1.xml" Id="R1f91d9158f144f59" /><Relationship Type="http://schemas.openxmlformats.org/officeDocument/2006/relationships/slide" Target="/ppt/slides/slide2.xml" Id="R8acb19616330473f" /><Relationship Type="http://schemas.openxmlformats.org/officeDocument/2006/relationships/slide" Target="/ppt/slides/slide3.xml" Id="Rc85c8d06e9d94a9f" /><Relationship Type="http://schemas.openxmlformats.org/officeDocument/2006/relationships/slide" Target="/ppt/slides/slide4.xml" Id="R9b9ba33f4fff4d9a" /><Relationship Type="http://schemas.openxmlformats.org/officeDocument/2006/relationships/slide" Target="/ppt/slides/slide5.xml" Id="Rdec178c6ea924ad6" /><Relationship Type="http://schemas.openxmlformats.org/officeDocument/2006/relationships/slide" Target="/ppt/slides/slide6.xml" Id="Re75074d088d74cac" /><Relationship Type="http://schemas.openxmlformats.org/officeDocument/2006/relationships/slide" Target="/ppt/slides/slide7.xml" Id="R6cafa2e76fe54278" /><Relationship Type="http://schemas.openxmlformats.org/officeDocument/2006/relationships/slide" Target="/ppt/slides/slide8.xml" Id="Rd997cfe74adf4132" /><Relationship Type="http://schemas.openxmlformats.org/officeDocument/2006/relationships/slide" Target="/ppt/slides/slide9.xml" Id="Rec782011f1cc4dec" /><Relationship Type="http://schemas.openxmlformats.org/officeDocument/2006/relationships/slide" Target="/ppt/slides/slide10.xml" Id="R8e3470c9e0e940ef" /><Relationship Type="http://schemas.openxmlformats.org/officeDocument/2006/relationships/slide" Target="/ppt/slides/slide11.xml" Id="Re00dc42808074897" /><Relationship Type="http://schemas.openxmlformats.org/officeDocument/2006/relationships/slide" Target="/ppt/slides/slide12.xml" Id="Ra50d396c7683485b" /><Relationship Type="http://schemas.openxmlformats.org/officeDocument/2006/relationships/slide" Target="/ppt/slides/slide13.xml" Id="R3dde0bfd98d845eb" /><Relationship Type="http://schemas.openxmlformats.org/officeDocument/2006/relationships/slide" Target="/ppt/slides/slide14.xml" Id="R3a8ea35f0eb242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c4b5ab36fe44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249ee5ae7f4686" /><Relationship Type="http://schemas.openxmlformats.org/officeDocument/2006/relationships/notesMaster" Target="/ppt/notesMasters/notesMaster1.xml" Id="Rccfc7c1558d149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4899e72cf64258" /><Relationship Type="http://schemas.openxmlformats.org/officeDocument/2006/relationships/notesMaster" Target="/ppt/notesMasters/notesMaster1.xml" Id="R5846212fe64b41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58944263f74825" /><Relationship Type="http://schemas.openxmlformats.org/officeDocument/2006/relationships/notesMaster" Target="/ppt/notesMasters/notesMaster1.xml" Id="R91b38f718c2c40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a58c639c704a72" /><Relationship Type="http://schemas.openxmlformats.org/officeDocument/2006/relationships/notesMaster" Target="/ppt/notesMasters/notesMaster1.xml" Id="R85c92015087343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9a49c475754779" /><Relationship Type="http://schemas.openxmlformats.org/officeDocument/2006/relationships/notesMaster" Target="/ppt/notesMasters/notesMaster1.xml" Id="R12dfd2fdae7c48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ccf18544984412" /><Relationship Type="http://schemas.openxmlformats.org/officeDocument/2006/relationships/notesMaster" Target="/ppt/notesMasters/notesMaster1.xml" Id="R886e1c97cbc342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1307b97b124cee" /><Relationship Type="http://schemas.openxmlformats.org/officeDocument/2006/relationships/notesMaster" Target="/ppt/notesMasters/notesMaster1.xml" Id="Rf08b2e82de4340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217eb642dc4839" /><Relationship Type="http://schemas.openxmlformats.org/officeDocument/2006/relationships/notesMaster" Target="/ppt/notesMasters/notesMaster1.xml" Id="R94b8e6859bf849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017a7ce60948e9" /><Relationship Type="http://schemas.openxmlformats.org/officeDocument/2006/relationships/notesMaster" Target="/ppt/notesMasters/notesMaster1.xml" Id="R3610fd83bcf446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936c9a4a224a3c" /><Relationship Type="http://schemas.openxmlformats.org/officeDocument/2006/relationships/notesMaster" Target="/ppt/notesMasters/notesMaster1.xml" Id="R8270af3bc4bf43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c4f914eceb4896" /><Relationship Type="http://schemas.openxmlformats.org/officeDocument/2006/relationships/notesMaster" Target="/ppt/notesMasters/notesMaster1.xml" Id="R84362b56677d48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29490bf1a64e89" /><Relationship Type="http://schemas.openxmlformats.org/officeDocument/2006/relationships/notesMaster" Target="/ppt/notesMasters/notesMaster1.xml" Id="R1f47b26ab72745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581f041b3643e3" /><Relationship Type="http://schemas.openxmlformats.org/officeDocument/2006/relationships/notesMaster" Target="/ppt/notesMasters/notesMaster1.xml" Id="Ra107521bd7e345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22e2202b7b43d5" /><Relationship Type="http://schemas.openxmlformats.org/officeDocument/2006/relationships/notesMaster" Target="/ppt/notesMasters/notesMaster1.xml" Id="Rb2157d65be8245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C:/Users/USER/OneDrive/文档/ChatGPT/Microsite RW KITA/Frontend/public/images/landing/community.jpg</a:t>
            </a:r>
          </a:p>
          <a:p xmlns:a="http://schemas.openxmlformats.org/drawingml/2006/main">
            <a:r>
              <a:t>- Local project source: Frontend and Backend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C:/Users/USER/OneDrive/文档/ChatGPT/Microsite RW KITA/Frontend/src/components/public-site.tsx</a:t>
            </a:r>
          </a:p>
          <a:p xmlns:a="http://schemas.openxmlformats.org/drawingml/2006/main">
            <a:r>
              <a:t>- C:/Users/USER/OneDrive/文档/ChatGPT/Microsite RW KITA/Frontend/src/components/dashboard.tsx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C:/Users/USER/OneDrive/文档/ChatGPT/Microsite RW KITA/Frontend/src/components/public-site.tsx</a:t>
            </a:r>
          </a:p>
          <a:p xmlns:a="http://schemas.openxmlformats.org/drawingml/2006/main">
            <a:r>
              <a:t>- C:/Users/USER/OneDrive/文档/ChatGPT/Microsite RW KITA/Frontend/src/components/dashboard.tsx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C:/Users/USER/OneDrive/文档/ChatGPT/Microsite RW KITA/Frontend/src/components/dashboard.tsx</a:t>
            </a:r>
          </a:p>
          <a:p xmlns:a="http://schemas.openxmlformats.org/drawingml/2006/main">
            <a:r>
              <a:t>- C:/Users/USER/OneDrive/文档/ChatGPT/Microsite RW KITA/Frontend/src/components/public-site.tsx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C:/Users/USER/OneDrive/文档/ChatGPT/Microsite RW KITA/Frontend/package.json</a:t>
            </a:r>
          </a:p>
          <a:p xmlns:a="http://schemas.openxmlformats.org/drawingml/2006/main">
            <a:r>
              <a:t>- C:/Users/USER/OneDrive/文档/ChatGPT/Microsite RW KITA/Backend/package.json</a:t>
            </a:r>
          </a:p>
          <a:p xmlns:a="http://schemas.openxmlformats.org/drawingml/2006/main">
            <a:r>
              <a:t>- C:/Users/USER/OneDrive/文档/ChatGPT/Microsite RW KITA/Backend/server.js</a:t>
            </a:r>
          </a:p>
          <a:p xmlns:a="http://schemas.openxmlformats.org/drawingml/2006/main">
            <a:r>
              <a:t>- C:/Users/USER/OneDrive/文档/ChatGPT/Microsite RW KITA/Backend/db.js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C:/Users/USER/AppData/Local/Temp/codex-clipboard-23cf7129-7ea8-4adb-9052-5847d863d955.png (user-provided screenshot)</a:t>
            </a:r>
          </a:p>
          <a:p xmlns:a="http://schemas.openxmlformats.org/drawingml/2006/main">
            <a:r>
              <a:t>- C:/Users/USER/OneDrive/文档/ChatGPT/Microsite RW KITA/Frontend/src/components/public-site.tsx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C:/Users/USER/OneDrive/文档/ChatGPT/Microsite RW KITA/Frontend/src/components/auth-form.tsx</a:t>
            </a:r>
          </a:p>
          <a:p xmlns:a="http://schemas.openxmlformats.org/drawingml/2006/main">
            <a:r>
              <a:t>- C:/Users/USER/OneDrive/文档/ChatGPT/Microsite RW KITA/Backend/server.js</a:t>
            </a:r>
          </a:p>
          <a:p xmlns:a="http://schemas.openxmlformats.org/drawingml/2006/main">
            <a:r>
              <a:t>- C:/Users/USER/OneDrive/文档/ChatGPT/Microsite RW KITA/Backend/schema.sql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C:/Users/USER/OneDrive/文档/ChatGPT/Microsite RW KITA/Frontend/src/components/dashboard.tsx (Citizen component)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C:/Users/USER/OneDrive/文档/ChatGPT/Microsite RW KITA/Frontend/src/components/dashboard.tsx (Admin component)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C:/Users/USER/AppData/Local/Temp/codex-clipboard-b6d7e773-0c17-49ca-baf9-2aed14f06620.png (user-provided visual reference)</a:t>
            </a:r>
          </a:p>
          <a:p xmlns:a="http://schemas.openxmlformats.org/drawingml/2006/main">
            <a:r>
              <a:t>- C:/Users/USER/OneDrive/文档/ChatGPT/Microsite RW KITA/Frontend/src/components/public-site.tsx</a:t>
            </a:r>
          </a:p>
          <a:p xmlns:a="http://schemas.openxmlformats.org/drawingml/2006/main">
            <a:r>
              <a:t>- https://timur.jakarta.go.id/peta-batas-wilayah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C:/Users/USER/AppData/Local/Temp/codex-clipboard-59a33804-01c5-4799-8da7-ad40d5c0da91.png (user-provided screenshot)</a:t>
            </a:r>
          </a:p>
          <a:p xmlns:a="http://schemas.openxmlformats.org/drawingml/2006/main">
            <a:r>
              <a:t>- C:/Users/USER/OneDrive/文档/ChatGPT/Microsite RW KITA/Frontend/src/components/public-site.tsx</a:t>
            </a:r>
          </a:p>
          <a:p xmlns:a="http://schemas.openxmlformats.org/drawingml/2006/main">
            <a:r>
              <a:t>- C:/Users/USER/OneDrive/文档/ChatGPT/Microsite RW KITA/Frontend/src/components/language-provider.tsx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C:/Users/USER/OneDrive/文档/ChatGPT/Microsite RW KITA/Backend/schema.sql</a:t>
            </a:r>
          </a:p>
          <a:p xmlns:a="http://schemas.openxmlformats.org/drawingml/2006/main">
            <a:r>
              <a:t>- C:/Users/USER/OneDrive/文档/ChatGPT/Microsite RW KITA/Backend/server.js</a:t>
            </a:r>
          </a:p>
          <a:p xmlns:a="http://schemas.openxmlformats.org/drawingml/2006/main">
            <a:r>
              <a:t>- C:/Users/USER/OneDrive/文档/ChatGPT/Microsite RW KITA/Backend/db.js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C:/Users/USER/OneDrive/文档/ChatGPT/Microsite RW KITA/Frontend (TypeScript compilation and route checks)</a:t>
            </a:r>
          </a:p>
          <a:p xmlns:a="http://schemas.openxmlformats.org/drawingml/2006/main">
            <a:r>
              <a:t>- C:/Users/USER/OneDrive/文档/ChatGPT/Microsite RW KITA/Backend/.env.example</a:t>
            </a:r>
          </a:p>
          <a:p xmlns:a="http://schemas.openxmlformats.org/drawingml/2006/main">
            <a:r>
              <a:t>- C:/Users/USER/OneDrive/文档/ChatGPT/Microsite RW KITA/Backend/server.js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C:/Users/USER/OneDrive/文档/ChatGPT/Microsite RW KITA/Frontend</a:t>
            </a:r>
          </a:p>
          <a:p xmlns:a="http://schemas.openxmlformats.org/drawingml/2006/main">
            <a:r>
              <a:t>- C:/Users/USER/OneDrive/文档/ChatGPT/Microsite RW KITA/Backend</a:t>
            </a:r>
          </a:p>
          <a:p xmlns:a="http://schemas.openxmlformats.org/drawingml/2006/main">
            <a:r>
              <a:t>- Recommendations are implementation next steps, not completed features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bd895e6744c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0c9287c93a437c" /><Relationship Type="http://schemas.openxmlformats.org/officeDocument/2006/relationships/slideLayout" Target="/ppt/slideLayouts/slideLayout1.xml" Id="R465df82c3b6f40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5df82c3b6f40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a00c8d3354ec5" /><Relationship Type="http://schemas.openxmlformats.org/officeDocument/2006/relationships/image" Target="/ppt/media/image.jpeg" Id="R31ac9171a8b246ff" /><Relationship Type="http://schemas.openxmlformats.org/officeDocument/2006/relationships/notesSlide" Target="/ppt/notesSlides/notesSlide1.xml" Id="Rbd3f8fe5c1454e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6857c8f3b4b7f" /><Relationship Type="http://schemas.openxmlformats.org/officeDocument/2006/relationships/notesSlide" Target="/ppt/notesSlides/notesSlide2.xml" Id="R0a3e3f4b5bef4c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d2cb901e64791" /><Relationship Type="http://schemas.openxmlformats.org/officeDocument/2006/relationships/notesSlide" Target="/ppt/notesSlides/notesSlide3.xml" Id="R73df837d7dc44e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5be2982d64e1f" /><Relationship Type="http://schemas.openxmlformats.org/officeDocument/2006/relationships/notesSlide" Target="/ppt/notesSlides/notesSlide4.xml" Id="R8457c214669d4f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65b9bff20482e" /><Relationship Type="http://schemas.openxmlformats.org/officeDocument/2006/relationships/notesSlide" Target="/ppt/notesSlides/notesSlide5.xml" Id="R09d006a2c6d240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7434383ea4247" /><Relationship Type="http://schemas.openxmlformats.org/officeDocument/2006/relationships/image" Target="/ppt/media/image.png" Id="R634e454f515f4c05" /><Relationship Type="http://schemas.openxmlformats.org/officeDocument/2006/relationships/notesSlide" Target="/ppt/notesSlides/notesSlide6.xml" Id="R5dd82f50d14e48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2841eb100464e" /><Relationship Type="http://schemas.openxmlformats.org/officeDocument/2006/relationships/notesSlide" Target="/ppt/notesSlides/notesSlide7.xml" Id="R97381bca478e48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f9a654c584eff" /><Relationship Type="http://schemas.openxmlformats.org/officeDocument/2006/relationships/notesSlide" Target="/ppt/notesSlides/notesSlide8.xml" Id="Rce11f2dea70647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b2eea6fe8420b" /><Relationship Type="http://schemas.openxmlformats.org/officeDocument/2006/relationships/notesSlide" Target="/ppt/notesSlides/notesSlide9.xml" Id="R4e8d42b0e41645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8dc58ede3461e" /><Relationship Type="http://schemas.openxmlformats.org/officeDocument/2006/relationships/image" Target="/ppt/media/image2.png" Id="R70ec0f61155444bf" /><Relationship Type="http://schemas.openxmlformats.org/officeDocument/2006/relationships/notesSlide" Target="/ppt/notesSlides/notesSlide10.xml" Id="Rf1c17a3323a04d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97da1073b4d8c" /><Relationship Type="http://schemas.openxmlformats.org/officeDocument/2006/relationships/image" Target="/ppt/media/image3.png" Id="Rf3f24e8be1294f84" /><Relationship Type="http://schemas.openxmlformats.org/officeDocument/2006/relationships/notesSlide" Target="/ppt/notesSlides/notesSlide11.xml" Id="Raad63156abfc4f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089ac21bf46ca" /><Relationship Type="http://schemas.openxmlformats.org/officeDocument/2006/relationships/notesSlide" Target="/ppt/notesSlides/notesSlide12.xml" Id="R26bad6877ad349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332de616d49b2" /><Relationship Type="http://schemas.openxmlformats.org/officeDocument/2006/relationships/notesSlide" Target="/ppt/notesSlides/notesSlide13.xml" Id="Rb91010eecd704f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5b23ea97d4e1e" /><Relationship Type="http://schemas.openxmlformats.org/officeDocument/2006/relationships/notesSlide" Target="/ppt/notesSlides/notesSlide14.xml" Id="Reff29d505d4f40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51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2E465-355A-44C6-B4EB-DE3C3440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c9171a8b246ff"/>
          <a:srcRect xmlns:a="http://schemas.openxmlformats.org/drawingml/2006/main" l="29227" t="0" r="292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742950"/>
            <a:ext cx="4095750" cy="5372100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E77AA-79D1-4788-9AC8-966487F3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FE0FF"/>
                </a:solidFill>
              </a:defRPr>
            </a:pPr>
            <a:r>
              <a:rPr sz="1200" b="1">
                <a:solidFill>
                  <a:srgbClr val="CFE0FF"/>
                </a:solidFill>
              </a:rPr>
              <a:t>LAPORAN PROYEK PRAKTIK KERJA LAPANGAN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1DE15-D653-40DF-A17A-9532AB34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RW KITA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45D74-67AB-4DB3-A2D3-76C69FB5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90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Perancangan dan Implementasi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Microsite Layanan Digital Warga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5AC97-EF49-433A-8665-47C44275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6FF"/>
                </a:solidFill>
              </a:defRPr>
            </a:pPr>
            <a:r>
              <a:rPr sz="1425" b="0">
                <a:solidFill>
                  <a:srgbClr val="D9E6FF"/>
                </a:solidFill>
              </a:rPr>
              <a:t>Next.js • TypeScript • Tailwind CSS • Express.js • MySQL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37A9D-B923-4422-A39B-48084376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79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1D6CB-95B8-4157-B0CD-F64C8D01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Digital Town Hall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C8DAB-AE1B-4C97-9604-84155460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6FF"/>
                </a:solidFill>
              </a:defRPr>
            </a:pPr>
            <a:r>
              <a:rPr sz="1350" b="0">
                <a:solidFill>
                  <a:srgbClr val="D9E6FF"/>
                </a:solidFill>
              </a:rPr>
              <a:t>Kolaboratif, informatif, tertib administrasi, dan literasi.</a:t>
            </a:r>
          </a:p>
        </p:txBody>
      </p:sp>
    </p:spTree>
    <p:extLst>
      <p:ext uri="{BB962C8B-B14F-4D97-AF65-F5344CB8AC3E}">
        <p14:creationId xmlns:p14="http://schemas.microsoft.com/office/powerpoint/2010/main" val="2137670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27308-BF8C-46F0-B208-03711891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1D5"/>
                </a:solidFill>
              </a:defRPr>
            </a:pPr>
            <a:r>
              <a:rPr sz="1050" b="1">
                <a:solidFill>
                  <a:srgbClr val="0751D5"/>
                </a:solidFill>
              </a:rPr>
              <a:t>LATAR BELAKANG PROYEK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9AA76-B6DE-461F-B3A8-802D61A6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Administrasi RW membutuhkan satu pusat layanan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2A60C-8676-4529-8BC2-D7E0B4CB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830A4-66E6-4BBB-ABA5-F1C08E22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3A7"/>
                </a:solidFill>
              </a:defRPr>
            </a:pPr>
            <a:r>
              <a:rPr sz="1050" b="1">
                <a:solidFill>
                  <a:srgbClr val="8793A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BDA4F-E8AE-4727-84B8-F9F87920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Kondisi yang ingin diperbaiki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397DF-84E5-4423-95A8-7C7FCE77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BF4F9-6152-4603-8367-AA6E8258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7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Informasi tersebar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F5418-C91D-4371-AA3D-16D796CD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07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Pengumuman, dokumen, dan kontak layanan belum berada dalam satu portal.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B5ED8-3376-40E2-ABFB-82FA06A8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093F6-0678-443D-8A64-3D0668CF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407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Proses masih manual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5BF73-CB8E-44EA-8173-659740A3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407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Pendaftaran warga, pengajuan layanan, dan pelacakan status membutuhkan komunikasi berulang.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6A651-4DA3-47C6-8194-14E8248F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ECF49-AF26-4A67-BCA1-D75D1AE3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407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Potensi warga kurang terlihat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565ED-BCC1-4ACC-922F-6D22B433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407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UMKM lokal membutuhkan etalase yang mudah diakses dan langsung terhubung ke WhatsApp.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038E1-58D2-4635-BC93-77814B30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5695950" cy="3905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102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71CEB-A290-4ADF-B92F-AEE4BCC2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Dampak operasional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0B9BC-9C0C-4A5D-9B2E-76A831A8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2A6FF"/>
                </a:solidFill>
              </a:defRPr>
            </a:pPr>
            <a:r>
              <a:rPr sz="2400" b="1">
                <a:solidFill>
                  <a:srgbClr val="72A6FF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7B518-A386-4E9A-BC6D-AD1379B5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146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Warga sulit menemukan informasi resmi dengan cepat.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2CAA1-D4E7-4798-9039-BACD1E3B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40016-4647-4F62-AF06-AECA4F23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2A6FF"/>
                </a:solidFill>
              </a:defRPr>
            </a:pPr>
            <a:r>
              <a:rPr sz="2400" b="1">
                <a:solidFill>
                  <a:srgbClr val="72A6FF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84EF0-F874-41B3-9D38-0014C408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052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Pengurus memerlukan data yang konsisten dan mudah dikelola.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DEE6C-B713-4F74-935E-C3F54B06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0CC3F-A1D2-48F4-AC30-C15A13B3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33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2A6FF"/>
                </a:solidFill>
              </a:defRPr>
            </a:pPr>
            <a:r>
              <a:rPr sz="2400" b="1">
                <a:solidFill>
                  <a:srgbClr val="72A6FF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99AF2-1BDA-4F0E-B791-4550C28B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958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Pelayanan publik perlu transparan dan dapat dilacak.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2496C2-B927-4CDD-A28E-D2070951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7AA"/>
                </a:solidFill>
              </a:defRPr>
            </a:pPr>
            <a:r>
              <a:rPr sz="825" b="0">
                <a:solidFill>
                  <a:srgbClr val="8B97AA"/>
                </a:solidFill>
              </a:rPr>
              <a:t>Laporan Proyek Praktik Kerja Lapangan - RW KITA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AC9328-FA33-4528-BADD-101478CD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7AA"/>
                </a:solidFill>
              </a:defRPr>
            </a:pPr>
            <a:r>
              <a:rPr sz="825" b="1">
                <a:solidFill>
                  <a:srgbClr val="8B97AA"/>
                </a:solidFill>
              </a:rPr>
              <a:t>MICROSITE RW KITA</a:t>
            </a:r>
          </a:p>
        </p:txBody>
      </p:sp>
    </p:spTree>
    <p:extLst>
      <p:ext uri="{BB962C8B-B14F-4D97-AF65-F5344CB8AC3E}">
        <p14:creationId xmlns:p14="http://schemas.microsoft.com/office/powerpoint/2010/main" val="17748704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B5AE41-FF5B-49F0-964B-1E82A22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1D5"/>
                </a:solidFill>
              </a:defRPr>
            </a:pPr>
            <a:r>
              <a:rPr sz="1050" b="1">
                <a:solidFill>
                  <a:srgbClr val="0751D5"/>
                </a:solidFill>
              </a:rPr>
              <a:t>SOLUSI YANG DIBANGUN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F945F-5F41-4A25-90A3-B5C596D4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RW KITA menyatukan informasi, layanan, dan potensi warga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CEC24-A89E-49EF-A1D2-626C8BDB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937F5-B0E7-4227-B2DC-FC42D9DF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3A7"/>
                </a:solidFill>
              </a:defRPr>
            </a:pPr>
            <a:r>
              <a:rPr sz="1050" b="1">
                <a:solidFill>
                  <a:srgbClr val="8793A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D40FA-C750-4393-AA19-74AD70DA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Satu portal, tiga nilai utama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C77BB-CD23-4B62-8D85-921DEA0D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9D33D-C7F4-4F12-8856-F41469A0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1D5"/>
                </a:solidFill>
              </a:defRPr>
            </a:pPr>
            <a:r>
              <a:rPr sz="1800" b="1">
                <a:solidFill>
                  <a:srgbClr val="0751D5"/>
                </a:solidFill>
              </a:rPr>
              <a:t>INFORMASI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60F9F-ABB5-4E9A-9D28-3A6C1744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077"/>
                </a:solidFill>
              </a:defRPr>
            </a:pPr>
            <a:r>
              <a:rPr sz="1575" b="0">
                <a:solidFill>
                  <a:srgbClr val="536077"/>
                </a:solidFill>
              </a:rPr>
              <a:t>Berita, pengumuman, profil RW, produk hukum, arsip digital, dan kontak darurat.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A5ECE-E328-4878-8BA5-818E4973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7E4F8"/>
                </a:solidFill>
              </a:defRPr>
            </a:pPr>
            <a:r>
              <a:rPr sz="4350" b="1">
                <a:solidFill>
                  <a:srgbClr val="D7E4F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12B93-1EC2-4A09-8915-D526A035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E9BEB-6769-4B71-B458-670AAD96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47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C968"/>
                </a:solidFill>
              </a:defRPr>
            </a:pPr>
            <a:r>
              <a:rPr sz="1800" b="1">
                <a:solidFill>
                  <a:srgbClr val="20C968"/>
                </a:solidFill>
              </a:rPr>
              <a:t>PELAYANAN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EC0F2-366E-4723-B7BC-211CA0AC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077"/>
                </a:solidFill>
              </a:defRPr>
            </a:pPr>
            <a:r>
              <a:rPr sz="1575" b="0">
                <a:solidFill>
                  <a:srgbClr val="536077"/>
                </a:solidFill>
              </a:rPr>
              <a:t>Login berbasis peran, aspirasi, status layanan, administrasi mandiri, dan dashboard pengurus.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F7BB9-ACC1-40E3-ADC8-4E964F11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7E4F8"/>
                </a:solidFill>
              </a:defRPr>
            </a:pPr>
            <a:r>
              <a:rPr sz="4350" b="1">
                <a:solidFill>
                  <a:srgbClr val="D7E4F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33F77-3747-424E-97C0-7E6EF55A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2D9A3-BC43-4691-BBA8-706581DE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B73C"/>
                </a:solidFill>
              </a:defRPr>
            </a:pPr>
            <a:r>
              <a:rPr sz="1800" b="1">
                <a:solidFill>
                  <a:srgbClr val="F6B73C"/>
                </a:solidFill>
              </a:rPr>
              <a:t>PEMBERDAYAAN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DCB4E-E2F1-4210-9D93-F528584D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077"/>
                </a:solidFill>
              </a:defRPr>
            </a:pPr>
            <a:r>
              <a:rPr sz="1575" b="0">
                <a:solidFill>
                  <a:srgbClr val="536077"/>
                </a:solidFill>
              </a:rPr>
              <a:t>Etalase UMKM warga dengan kontak WhatsApp serta informasi potensi lingkungan.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806D5-75A6-4063-AE4D-64330FBA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625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7E4F8"/>
                </a:solidFill>
              </a:defRPr>
            </a:pPr>
            <a:r>
              <a:rPr sz="4350" b="1">
                <a:solidFill>
                  <a:srgbClr val="D7E4F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54C31C-2060-4C04-B256-2BFA75D1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23C"/>
                </a:solidFill>
              </a:defRPr>
            </a:pPr>
            <a:r>
              <a:rPr sz="1725" b="1">
                <a:solidFill>
                  <a:srgbClr val="10223C"/>
                </a:solidFill>
              </a:rPr>
              <a:t>Tujuan akhirnya adalah mempercepat akses warga sekaligus meningkatkan transparansi kerja pengurus RW.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C1854-A2B5-4010-9AE7-44E0EBFB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7AA"/>
                </a:solidFill>
              </a:defRPr>
            </a:pPr>
            <a:r>
              <a:rPr sz="825" b="0">
                <a:solidFill>
                  <a:srgbClr val="8B97AA"/>
                </a:solidFill>
              </a:rPr>
              <a:t>Laporan Proyek Praktik Kerja Lapangan - RW KITA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08F230-4E67-4F44-9A93-AE8CFEA3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7AA"/>
                </a:solidFill>
              </a:defRPr>
            </a:pPr>
            <a:r>
              <a:rPr sz="825" b="1">
                <a:solidFill>
                  <a:srgbClr val="8B97AA"/>
                </a:solidFill>
              </a:rPr>
              <a:t>MICROSITE RW KITA</a:t>
            </a:r>
          </a:p>
        </p:txBody>
      </p:sp>
    </p:spTree>
    <p:extLst>
      <p:ext uri="{BB962C8B-B14F-4D97-AF65-F5344CB8AC3E}">
        <p14:creationId xmlns:p14="http://schemas.microsoft.com/office/powerpoint/2010/main" val="526755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3D7A68-8352-4E23-B2A4-6751E15A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1D5"/>
                </a:solidFill>
              </a:defRPr>
            </a:pPr>
            <a:r>
              <a:rPr sz="1050" b="1">
                <a:solidFill>
                  <a:srgbClr val="0751D5"/>
                </a:solidFill>
              </a:rPr>
              <a:t>RUANG LINGKUP PENGGUNA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2026B-8A12-4ADC-A4E4-CDD5F54E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Tiga kelompok pengguna memperoleh pengalaman yang berbeda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ABB29-7B6D-4462-81F7-8793121C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0D825-4A2D-481A-BE4F-7B56B6E5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3A7"/>
                </a:solidFill>
              </a:defRPr>
            </a:pPr>
            <a:r>
              <a:rPr sz="1050" b="1">
                <a:solidFill>
                  <a:srgbClr val="8793A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A747B-F2A9-4B77-ADAA-CF0091C7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38500" cy="3905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D75BB-01CD-4B42-B4F6-18E816B9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DCC94-0B47-4D90-83F3-4DD82FCF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51D5"/>
                </a:solidFill>
              </a:defRPr>
            </a:pPr>
            <a:r>
              <a:rPr sz="2100" b="1">
                <a:solidFill>
                  <a:srgbClr val="0751D5"/>
                </a:solidFill>
              </a:rPr>
              <a:t>PUBLIK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39B9E-0B46-4766-96CD-C80265EF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077"/>
                </a:solidFill>
              </a:defRPr>
            </a:pPr>
            <a:r>
              <a:rPr sz="1350" b="1">
                <a:solidFill>
                  <a:srgbClr val="536077"/>
                </a:solidFill>
              </a:rPr>
              <a:t>Tanpa login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A82E1-6A94-4D97-9720-07DDC5E1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51D5"/>
                </a:solidFill>
              </a:defRPr>
            </a:pPr>
            <a:r>
              <a:rPr sz="1500" b="1">
                <a:solidFill>
                  <a:srgbClr val="0751D5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9E3F3-67BF-44CB-87F4-E17ADCF5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576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Membaca berita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7F2B9-170E-4E4B-88A7-8E89716A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51D5"/>
                </a:solidFill>
              </a:defRPr>
            </a:pPr>
            <a:r>
              <a:rPr sz="1500" b="1">
                <a:solidFill>
                  <a:srgbClr val="0751D5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C5EAC-80EF-4671-9C73-B2A0D753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00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Melihat profil dan arsip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23B00-2B61-4CA6-B098-125C6D9F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51D5"/>
                </a:solidFill>
              </a:defRPr>
            </a:pPr>
            <a:r>
              <a:rPr sz="1500" b="1">
                <a:solidFill>
                  <a:srgbClr val="0751D5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742C8-795C-48D0-900D-00481C6B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Menemukan UMKM dan kontak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AF902-DB81-4163-B070-6B6DDF52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238500" cy="3905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BFAF2"/>
          </a:solidFill>
          <a:ln xmlns:a="http://schemas.openxmlformats.org/drawingml/2006/main" w="9525">
            <a:solidFill>
              <a:srgbClr val="D7E1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B3930-E588-447F-96E9-09910E73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A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409BA-2DCB-4285-9F8D-E5A7D4E3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9A52"/>
                </a:solidFill>
              </a:defRPr>
            </a:pPr>
            <a:r>
              <a:rPr sz="2100" b="1">
                <a:solidFill>
                  <a:srgbClr val="169A52"/>
                </a:solidFill>
              </a:rPr>
              <a:t>WARGA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6A54F-2912-4F30-9C4C-D47E4922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95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077"/>
                </a:solidFill>
              </a:defRPr>
            </a:pPr>
            <a:r>
              <a:rPr sz="1350" b="1">
                <a:solidFill>
                  <a:srgbClr val="536077"/>
                </a:solidFill>
              </a:rPr>
              <a:t>Akun warga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9F6CC-63DE-499E-8DE5-CFD53331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9A52"/>
                </a:solidFill>
              </a:defRPr>
            </a:pPr>
            <a:r>
              <a:rPr sz="1500" b="1">
                <a:solidFill>
                  <a:srgbClr val="169A52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4F7B4-F34C-4948-8038-E15E0A98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Mengirim aspirasi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BDF45-7393-4FD2-9458-C5BD70C2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29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9A52"/>
                </a:solidFill>
              </a:defRPr>
            </a:pPr>
            <a:r>
              <a:rPr sz="1500" b="1">
                <a:solidFill>
                  <a:srgbClr val="169A52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B2137-799D-4DA7-A72D-4A3E16B2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100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Melacak status layanan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BC3E98-2055-4872-B0B2-DF812BC1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81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9A52"/>
                </a:solidFill>
              </a:defRPr>
            </a:pPr>
            <a:r>
              <a:rPr sz="1500" b="1">
                <a:solidFill>
                  <a:srgbClr val="169A52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E139E-6C83-4873-A378-63A5F2AA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Membaca warta lingkungan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07EBB-4162-4118-9F67-486E5DB3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3238500" cy="3905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6E4"/>
          </a:solidFill>
          <a:ln xmlns:a="http://schemas.openxmlformats.org/drawingml/2006/main" w="9525">
            <a:solidFill>
              <a:srgbClr val="D7E1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C14BBC-BCD6-4B9C-BBB0-F457BC04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B8888-1000-4C54-A220-87F9A506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E7C00"/>
                </a:solidFill>
              </a:defRPr>
            </a:pPr>
            <a:r>
              <a:rPr sz="2100" b="1">
                <a:solidFill>
                  <a:srgbClr val="BE7C00"/>
                </a:solidFill>
              </a:rPr>
              <a:t>PENGURUS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3DB29E-2A3C-4EAD-A277-0FD500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95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077"/>
                </a:solidFill>
              </a:defRPr>
            </a:pPr>
            <a:r>
              <a:rPr sz="1350" b="1">
                <a:solidFill>
                  <a:srgbClr val="536077"/>
                </a:solidFill>
              </a:rPr>
              <a:t>Akun 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C206BF-D918-46CA-947D-0A85A08A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E7C00"/>
                </a:solidFill>
              </a:defRPr>
            </a:pPr>
            <a:r>
              <a:rPr sz="1500" b="1">
                <a:solidFill>
                  <a:srgbClr val="BE7C00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5E9A74-9053-456F-AEB3-BCC6922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576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Mengelola data warga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EE03CB-68E9-485D-98C0-89E44B22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E7C00"/>
                </a:solidFill>
              </a:defRPr>
            </a:pPr>
            <a:r>
              <a:rPr sz="1500" b="1">
                <a:solidFill>
                  <a:srgbClr val="BE7C00"/>
                </a:solidFill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9C78CF-D41E-4F07-816C-C1BAAC94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100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Moderasi dan verifikasi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4537A2-0F8F-4460-B59B-084556F5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E7C00"/>
                </a:solidFill>
              </a:defRPr>
            </a:pPr>
            <a:r>
              <a:rPr sz="1500" b="1">
                <a:solidFill>
                  <a:srgbClr val="BE7C00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1E2310-520A-4009-B997-0F97F0FD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625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Membuat berita/pengumuman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E47C56-3089-4C83-8F56-24655253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7AA"/>
                </a:solidFill>
              </a:defRPr>
            </a:pPr>
            <a:r>
              <a:rPr sz="825" b="0">
                <a:solidFill>
                  <a:srgbClr val="8B97AA"/>
                </a:solidFill>
              </a:rPr>
              <a:t>Laporan Proyek Praktik Kerja Lapangan - RW KITA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A905E9-1E22-486F-AAFA-5267B13B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7AA"/>
                </a:solidFill>
              </a:defRPr>
            </a:pPr>
            <a:r>
              <a:rPr sz="825" b="1">
                <a:solidFill>
                  <a:srgbClr val="8B97AA"/>
                </a:solidFill>
              </a:rPr>
              <a:t>MICROSITE RW KITA</a:t>
            </a:r>
          </a:p>
        </p:txBody>
      </p:sp>
    </p:spTree>
    <p:extLst>
      <p:ext uri="{BB962C8B-B14F-4D97-AF65-F5344CB8AC3E}">
        <p14:creationId xmlns:p14="http://schemas.microsoft.com/office/powerpoint/2010/main" val="6022952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356917-77B1-4E85-B1FF-000B859E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1D5"/>
                </a:solidFill>
              </a:defRPr>
            </a:pPr>
            <a:r>
              <a:rPr sz="1050" b="1">
                <a:solidFill>
                  <a:srgbClr val="0751D5"/>
                </a:solidFill>
              </a:rPr>
              <a:t>ARSITEKTUR SISTEM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00AFA-B9DF-4185-A177-689E466E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Arsitektur memisahkan antarmuka, API, dan penyimpanan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B4F01-3B6C-48D1-925F-FD8E0953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1E446-867E-4763-A32A-05D6D6B8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3A7"/>
                </a:solidFill>
              </a:defRPr>
            </a:pPr>
            <a:r>
              <a:rPr sz="1050" b="1">
                <a:solidFill>
                  <a:srgbClr val="8793A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BA000-21C7-4D8F-A260-C88CD694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Alur permintaan utama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FCC52-99E4-4084-8279-2D457252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2479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51D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FB3F8-201B-49B5-824D-FEFE1066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51D5"/>
                </a:solidFill>
              </a:defRPr>
            </a:pPr>
            <a:r>
              <a:rPr sz="1875" b="1">
                <a:solidFill>
                  <a:srgbClr val="0751D5"/>
                </a:solidFill>
              </a:rPr>
              <a:t>NEXT.JS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6D165-0DBD-4A85-8C25-A83B85B9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A6489-1B79-45D5-BC52-1056D794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82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TSX + React 19</a:t>
            </a:r>
          </a:p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Tailwind CSS</a:t>
            </a:r>
          </a:p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App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4F369-7B5E-4DB9-B215-1F3E4D26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194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EABC0"/>
                </a:solidFill>
              </a:defRPr>
            </a:pPr>
            <a:r>
              <a:rPr sz="2400" b="1">
                <a:solidFill>
                  <a:srgbClr val="9EABC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D6B9B-4651-4F87-9A48-94D71498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22479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5D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EE4CC-2A05-466C-B294-08B6AA78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670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5DE7"/>
                </a:solidFill>
              </a:defRPr>
            </a:pPr>
            <a:r>
              <a:rPr sz="1875" b="1">
                <a:solidFill>
                  <a:srgbClr val="6D5DE7"/>
                </a:solidFill>
              </a:rPr>
              <a:t>EXPRESS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46C0C-9959-4307-BEDC-3ADCAE46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72E54-ED23-422A-A615-973FDD93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71850"/>
            <a:ext cx="182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REST API</a:t>
            </a:r>
          </a:p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Validasi request</a:t>
            </a:r>
          </a:p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CORS &amp; middleware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A6A01-8DB9-407D-82E5-D8B42644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EABC0"/>
                </a:solidFill>
              </a:defRPr>
            </a:pPr>
            <a:r>
              <a:rPr sz="2400" b="1">
                <a:solidFill>
                  <a:srgbClr val="9EABC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F6FB3-C960-45EA-98F4-ED39A132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0300"/>
            <a:ext cx="22479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743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07F51-E865-45CA-8D2D-B7231FEF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87434"/>
                </a:solidFill>
              </a:defRPr>
            </a:pPr>
            <a:r>
              <a:rPr sz="1875" b="1">
                <a:solidFill>
                  <a:srgbClr val="D87434"/>
                </a:solidFill>
              </a:rPr>
              <a:t>AUTH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D560D-A30D-492C-932B-873A0748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D6ED2-94D6-4CDD-B765-5EDD1335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82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JWT 7 hari</a:t>
            </a:r>
          </a:p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Bcrypt hash</a:t>
            </a:r>
          </a:p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Passport OAuth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CA5403-9E9D-4227-9D9B-DBAA35EC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EABC0"/>
                </a:solidFill>
              </a:defRPr>
            </a:pPr>
            <a:r>
              <a:rPr sz="2400" b="1">
                <a:solidFill>
                  <a:srgbClr val="9EABC0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264C5-7BF5-433B-AA1D-17CDDDFA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22479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9A5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BC361-9BCA-4C07-822F-A37D32DC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9A52"/>
                </a:solidFill>
              </a:defRPr>
            </a:pPr>
            <a:r>
              <a:rPr sz="1875" b="1">
                <a:solidFill>
                  <a:srgbClr val="169A52"/>
                </a:solidFill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035823-D18F-4944-8094-C0B541A6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0B0522-7A35-435B-9668-A0587BEB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71850"/>
            <a:ext cx="182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mysql2/promise</a:t>
            </a:r>
          </a:p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Connection pool</a:t>
            </a:r>
          </a:p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Schema otomatis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E7AED7-E9AB-4211-BADB-A11F6246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1CF66A-DAF7-4990-9574-EE3F2DC6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OAuth eksternal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203314-D95A-4978-B8A1-CAEB33CD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197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8FA"/>
                </a:solidFill>
              </a:defRPr>
            </a:pPr>
            <a:r>
              <a:rPr sz="1425" b="0">
                <a:solidFill>
                  <a:srgbClr val="DCE8FA"/>
                </a:solidFill>
              </a:rPr>
              <a:t>Google dan Facebook mengembalikan profil pengguna ke backend, kemudian backend membuat akun atau mengambil akun yang sudah ada.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B6673E-15E5-419D-8953-8B7323D2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7AA"/>
                </a:solidFill>
              </a:defRPr>
            </a:pPr>
            <a:r>
              <a:rPr sz="825" b="0">
                <a:solidFill>
                  <a:srgbClr val="8B97AA"/>
                </a:solidFill>
              </a:rPr>
              <a:t>Laporan Proyek Praktik Kerja Lapangan - RW KITA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899E6-20E3-432A-9104-AFF0D3DA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7AA"/>
                </a:solidFill>
              </a:defRPr>
            </a:pPr>
            <a:r>
              <a:rPr sz="825" b="1">
                <a:solidFill>
                  <a:srgbClr val="8B97AA"/>
                </a:solidFill>
              </a:rPr>
              <a:t>MICROSITE RW KITA</a:t>
            </a:r>
          </a:p>
        </p:txBody>
      </p:sp>
    </p:spTree>
    <p:extLst>
      <p:ext uri="{BB962C8B-B14F-4D97-AF65-F5344CB8AC3E}">
        <p14:creationId xmlns:p14="http://schemas.microsoft.com/office/powerpoint/2010/main" val="17467309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9DF104-9298-4CBA-B2B7-75D26C50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1D5"/>
                </a:solidFill>
              </a:defRPr>
            </a:pPr>
            <a:r>
              <a:rPr sz="1050" b="1">
                <a:solidFill>
                  <a:srgbClr val="0751D5"/>
                </a:solidFill>
              </a:rPr>
              <a:t>IMPLEMENTASI FRONTEND PUBLIK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5E5C4-EED6-452A-B6A4-94A3F36A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Portal publik menjadi pintu masuk seluruh layanan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FED9A-D79F-42F7-97E1-AD023176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FB804-36F1-4087-9BBB-3DB05E94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3A7"/>
                </a:solidFill>
              </a:defRPr>
            </a:pPr>
            <a:r>
              <a:rPr sz="1050" b="1">
                <a:solidFill>
                  <a:srgbClr val="8793A7"/>
                </a:solidFill>
              </a:rPr>
              <a:t>06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e454f515f4c05"/>
          <a:stretch xmlns:a="http://schemas.openxmlformats.org/drawingml/2006/main"/>
        </p:blipFill>
        <p:spPr>
          <a:xfrm xmlns:a="http://schemas.openxmlformats.org/drawingml/2006/main">
            <a:off x="5048250" y="2373269"/>
            <a:ext cx="6457950" cy="2416263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B4E64-2A66-46DD-A57E-8B4A2EB3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Halaman yang tersedia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F67B9-3328-4911-B8A9-D5EDE4D1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1D5"/>
                </a:solidFill>
              </a:defRPr>
            </a:pPr>
            <a:r>
              <a:rPr sz="1125" b="1">
                <a:solidFill>
                  <a:srgbClr val="0751D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C8443-1A1E-479D-AB6E-21DFD21B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Landing page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37FAC-B837-4771-BA92-8613162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1D5"/>
                </a:solidFill>
              </a:defRPr>
            </a:pPr>
            <a:r>
              <a:rPr sz="1125" b="1">
                <a:solidFill>
                  <a:srgbClr val="0751D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74392-64BD-4B81-A791-E504F7B5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Profil dan struktur RW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372CB-DE01-4259-B6E2-76FE57BE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1D5"/>
                </a:solidFill>
              </a:defRPr>
            </a:pPr>
            <a:r>
              <a:rPr sz="1125" b="1">
                <a:solidFill>
                  <a:srgbClr val="0751D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6FF32-E282-40F7-A880-E9B5DB6A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Berita &amp; pengumuman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2276C-7887-40FD-B976-F36E9D0A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1D5"/>
                </a:solidFill>
              </a:defRPr>
            </a:pPr>
            <a:r>
              <a:rPr sz="1125" b="1">
                <a:solidFill>
                  <a:srgbClr val="0751D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B8E88-9A19-45F4-B534-7988289F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Potensi &amp; UMKM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488A2-C4CB-46AA-B50E-11972E37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1D5"/>
                </a:solidFill>
              </a:defRPr>
            </a:pPr>
            <a:r>
              <a:rPr sz="1125" b="1">
                <a:solidFill>
                  <a:srgbClr val="0751D5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0DF3B-E61B-48DA-B07E-87EDE2E6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Produk hukum &amp; arsip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C098E-94ED-4EF7-A4D8-5CB2F244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1D5"/>
                </a:solidFill>
              </a:defRPr>
            </a:pPr>
            <a:r>
              <a:rPr sz="1125" b="1">
                <a:solidFill>
                  <a:srgbClr val="0751D5"/>
                </a:solidFill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7F8AB-AA8F-4EAC-944D-083C2EC9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Kontak dan layanan darurat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CFCF7-A572-45CC-9B5F-FD9C1B85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23C"/>
                </a:solidFill>
              </a:defRPr>
            </a:pPr>
            <a:r>
              <a:rPr sz="1500" b="1">
                <a:solidFill>
                  <a:srgbClr val="10223C"/>
                </a:solidFill>
              </a:rPr>
              <a:t>Navigasi saling terhubung dan setiap halaman menyediakan jalur kembali melalui navbar, breadcrumb, atau tautan terkait.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A5A5A-219B-46ED-A760-5357C33F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7AA"/>
                </a:solidFill>
              </a:defRPr>
            </a:pPr>
            <a:r>
              <a:rPr sz="825" b="0">
                <a:solidFill>
                  <a:srgbClr val="8B97AA"/>
                </a:solidFill>
              </a:rPr>
              <a:t>Laporan Proyek Praktik Kerja Lapangan - RW KITA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6A999-2426-49D9-A8BD-315FB15C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7AA"/>
                </a:solidFill>
              </a:defRPr>
            </a:pPr>
            <a:r>
              <a:rPr sz="825" b="1">
                <a:solidFill>
                  <a:srgbClr val="8B97AA"/>
                </a:solidFill>
              </a:rPr>
              <a:t>MICROSITE RW KITA</a:t>
            </a:r>
          </a:p>
        </p:txBody>
      </p:sp>
    </p:spTree>
    <p:extLst>
      <p:ext uri="{BB962C8B-B14F-4D97-AF65-F5344CB8AC3E}">
        <p14:creationId xmlns:p14="http://schemas.microsoft.com/office/powerpoint/2010/main" val="1989145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CFAC92-0B6F-4231-BCF1-2A08017C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1D5"/>
                </a:solidFill>
              </a:defRPr>
            </a:pPr>
            <a:r>
              <a:rPr sz="1050" b="1">
                <a:solidFill>
                  <a:srgbClr val="0751D5"/>
                </a:solidFill>
              </a:rPr>
              <a:t>LOGIN DAN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89ECE-BFF8-460D-91CF-5E3BB335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Autentikasi menggabungkan akun lokal, OAuth, dan kontrol peran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F9999-0FC1-4ABC-AA9B-742B086A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5B2B9-CF50-4477-9036-6D7A2D56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3A7"/>
                </a:solidFill>
              </a:defRPr>
            </a:pPr>
            <a:r>
              <a:rPr sz="1050" b="1">
                <a:solidFill>
                  <a:srgbClr val="8793A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06D8B-AF17-44BB-AC6A-A2DDC42D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Alur akun lokal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CE28A-2C75-4BCB-83CC-FE04767F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C8FE6-D325-427C-83CB-435F5DB1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86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Register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BE331-5453-44EC-91D7-09B81EB2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908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77"/>
                </a:solidFill>
              </a:defRPr>
            </a:pPr>
            <a:r>
              <a:rPr sz="1275" b="0">
                <a:solidFill>
                  <a:srgbClr val="536077"/>
                </a:solidFill>
              </a:rPr>
              <a:t>Nama, NIK 16 digit, email, WhatsApp, peran, dan kata sandi.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5C543-23DD-4B74-9D26-9FDFD529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23077-8BE1-41BC-82CE-0FAD0BE1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Validasi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1A8E4-30BB-4583-B061-A386B44B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671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77"/>
                </a:solidFill>
              </a:defRPr>
            </a:pPr>
            <a:r>
              <a:rPr sz="1275" b="0">
                <a:solidFill>
                  <a:srgbClr val="536077"/>
                </a:solidFill>
              </a:rPr>
              <a:t>Email/NIK unik, kata sandi minimal 8 karakter, dan persetujuan syarat.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B734F-31C7-414D-BC24-FCD3BBE4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5B142-E9C8-4E53-AB25-79B1560C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Simpan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40950-8489-4D4E-A646-DF984949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77"/>
                </a:solidFill>
              </a:defRPr>
            </a:pPr>
            <a:r>
              <a:rPr sz="1275" b="0">
                <a:solidFill>
                  <a:srgbClr val="536077"/>
                </a:solidFill>
              </a:rPr>
              <a:t>Kata sandi di-hash menggunakan bcrypt sebelum masuk MySQL.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D70E6-C6CF-4B78-9549-0E21BEBA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79B90-BFAD-403D-A0D5-043D5DAC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Login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42CA3-EAC2-4487-8263-B86E6E93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77"/>
                </a:solidFill>
              </a:defRPr>
            </a:pPr>
            <a:r>
              <a:rPr sz="1275" b="0">
                <a:solidFill>
                  <a:srgbClr val="536077"/>
                </a:solidFill>
              </a:rPr>
              <a:t>Backend memeriksa email, peran, dan hash lalu menerbitkan JWT.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25C3A-97C2-4852-9DC4-2588BEE7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5600700" cy="3790950"/>
          </a:xfrm>
          <a:prstGeom xmlns:a="http://schemas.openxmlformats.org/drawingml/2006/main" prst="roundRect">
            <a:avLst>
              <a:gd name="adj" fmla="val 6030"/>
            </a:avLst>
          </a:prstGeom>
          <a:solidFill xmlns:a="http://schemas.openxmlformats.org/drawingml/2006/main">
            <a:srgbClr val="102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FB84B-E5E4-46E8-8CC0-A501B34C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Keamanan yang sudah diterapkan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9F5DC-D50A-473F-B9FD-99E2C5D8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9E7A1"/>
                </a:solidFill>
              </a:defRPr>
            </a:pPr>
            <a:r>
              <a:rPr sz="1350" b="1">
                <a:solidFill>
                  <a:srgbClr val="69E7A1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C2BCB-8FF0-462E-B7BF-0175DA4D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717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Hash bcrypt dengan cost 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B7697-1A91-480C-A076-0E4A2518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9E7A1"/>
                </a:solidFill>
              </a:defRPr>
            </a:pPr>
            <a:r>
              <a:rPr sz="1350" b="1">
                <a:solidFill>
                  <a:srgbClr val="69E7A1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3417A-9EEE-45F4-A48E-6B6E8F82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992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JWT berumur 7 hari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578786-A408-4383-A237-D5EF977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9E7A1"/>
                </a:solidFill>
              </a:defRPr>
            </a:pPr>
            <a:r>
              <a:rPr sz="1350" b="1">
                <a:solidFill>
                  <a:srgbClr val="69E7A1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1DEF5-6BDC-40C3-A0CB-533ADA5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Role WARGA dan PENGURUS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A964BA-D5D9-4FF3-A085-062175C4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9E7A1"/>
                </a:solidFill>
              </a:defRPr>
            </a:pPr>
            <a:r>
              <a:rPr sz="1350" b="1">
                <a:solidFill>
                  <a:srgbClr val="69E7A1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AF84D8-BE03-449E-B008-1CB6E391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8622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Prepared statement mysql2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BB11DF-628D-4DC5-921B-3DA51B86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9E7A1"/>
                </a:solidFill>
              </a:defRPr>
            </a:pPr>
            <a:r>
              <a:rPr sz="1350" b="1">
                <a:solidFill>
                  <a:srgbClr val="69E7A1"/>
                </a:solidFill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C8181C-A2D5-4A5D-A1CE-813E7364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243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Error handler API dan stack trace OAuth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767878-8011-40C5-A44A-AD9FC43D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91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9E7A1"/>
                </a:solidFill>
              </a:defRPr>
            </a:pPr>
            <a:r>
              <a:rPr sz="1350" b="1">
                <a:solidFill>
                  <a:srgbClr val="69E7A1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CFDDBA-8E44-4936-96EB-87840CD9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6252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OAuth dinonaktifkan aman jika kredensial kosong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28005D-14B7-45E9-9184-F7333E38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19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DB5FF"/>
                </a:solidFill>
              </a:defRPr>
            </a:pPr>
            <a:r>
              <a:rPr sz="1575" b="1">
                <a:solidFill>
                  <a:srgbClr val="8DB5FF"/>
                </a:solidFill>
              </a:rPr>
              <a:t>Google • Facebook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B98C47-DCC6-4437-930E-E43980AC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7AA"/>
                </a:solidFill>
              </a:defRPr>
            </a:pPr>
            <a:r>
              <a:rPr sz="825" b="0">
                <a:solidFill>
                  <a:srgbClr val="8B97AA"/>
                </a:solidFill>
              </a:rPr>
              <a:t>Laporan Proyek Praktik Kerja Lapangan - RW KITA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3E78A5-DA98-4DED-B1C6-E7C51EF5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7AA"/>
                </a:solidFill>
              </a:defRPr>
            </a:pPr>
            <a:r>
              <a:rPr sz="825" b="1">
                <a:solidFill>
                  <a:srgbClr val="8B97AA"/>
                </a:solidFill>
              </a:rPr>
              <a:t>MICROSITE RW KITA</a:t>
            </a:r>
          </a:p>
        </p:txBody>
      </p:sp>
    </p:spTree>
    <p:extLst>
      <p:ext uri="{BB962C8B-B14F-4D97-AF65-F5344CB8AC3E}">
        <p14:creationId xmlns:p14="http://schemas.microsoft.com/office/powerpoint/2010/main" val="1738380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CB533-D0F0-426C-AD02-0BA20642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1D5"/>
                </a:solidFill>
              </a:defRPr>
            </a:pPr>
            <a:r>
              <a:rPr sz="1050" b="1">
                <a:solidFill>
                  <a:srgbClr val="0751D5"/>
                </a:solidFill>
              </a:rPr>
              <a:t>FITUR PENGGUNA WARGA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E3929-13CE-424C-AD83-C1F7981B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Dashboard warga memusatkan aspirasi dan layanan mandiri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25C8B-82A2-4B2B-8138-641DDFCF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25BBF-8931-47FC-BD37-0CAFE884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3A7"/>
                </a:solidFill>
              </a:defRPr>
            </a:pPr>
            <a:r>
              <a:rPr sz="1050" b="1">
                <a:solidFill>
                  <a:srgbClr val="8793A7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BBB0C-9769-4DE6-BFC7-E01E548D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99B60-8B5E-480D-BB52-0557EDF2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Satu Kantong Aspirasi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059AB-5A90-40E2-BC99-834108E8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8FF"/>
                </a:solidFill>
              </a:defRPr>
            </a:pPr>
            <a:r>
              <a:rPr sz="1425" b="0">
                <a:solidFill>
                  <a:srgbClr val="DCE8FF"/>
                </a:solidFill>
              </a:rPr>
              <a:t>Warga dapat menyampaikan keluhan, saran, atau ide pembangunan langsung kepada pengurus RW.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1D612-C695-45F8-955D-0F3F8C87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1D5"/>
                </a:solidFill>
              </a:defRPr>
            </a:pPr>
            <a:r>
              <a:rPr sz="1725" b="1">
                <a:solidFill>
                  <a:srgbClr val="0751D5"/>
                </a:solidFill>
              </a:rPr>
              <a:t>ASPIRASI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4F767-5D5F-4808-B503-4A4D1157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DFAA0-83E7-4F19-A90B-8686ADFA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Form aspirasi baru dan notifikasi tindakan pengguna.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AB445-25CA-446C-B0D2-2F83D63B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1D5"/>
                </a:solidFill>
              </a:defRPr>
            </a:pPr>
            <a:r>
              <a:rPr sz="1725" b="1">
                <a:solidFill>
                  <a:srgbClr val="0751D5"/>
                </a:solidFill>
              </a:rPr>
              <a:t>STATUS LAYANAN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BBEF1-8A4A-4102-AA92-E2F22DC5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EE855-583D-4211-A297-1FFC70D6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004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Progress surat pengantar KTP beserta waktu pembaruan.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18FEF-5AF8-4BFD-AD51-1FC74F7A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1D5"/>
                </a:solidFill>
              </a:defRPr>
            </a:pPr>
            <a:r>
              <a:rPr sz="1725" b="1">
                <a:solidFill>
                  <a:srgbClr val="0751D5"/>
                </a:solidFill>
              </a:rPr>
              <a:t>WARTA WARGA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5C3E0-D718-400E-9212-BBDB0BED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88B1D-9856-4994-8468-628C48E1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Berita pembangunan dan informasi keamanan lingkungan.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0B735-5EAC-4969-9679-D141B037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1D5"/>
                </a:solidFill>
              </a:defRPr>
            </a:pPr>
            <a:r>
              <a:rPr sz="1725" b="1">
                <a:solidFill>
                  <a:srgbClr val="0751D5"/>
                </a:solidFill>
              </a:rPr>
              <a:t>RIWAYAT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BEF708-64D7-45F1-80AE-64B78F4F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95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2C9E4-9054-4D43-8B79-68481939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577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Daftar layanan, ID tracking, tanggal, dan status pengajuan.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F9064-6C66-4A48-8953-CDC19066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7AA"/>
                </a:solidFill>
              </a:defRPr>
            </a:pPr>
            <a:r>
              <a:rPr sz="825" b="0">
                <a:solidFill>
                  <a:srgbClr val="8B97AA"/>
                </a:solidFill>
              </a:rPr>
              <a:t>Laporan Proyek Praktik Kerja Lapangan - RW KITA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9547F2-F6A5-44F3-B5CD-E5B88A09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7AA"/>
                </a:solidFill>
              </a:defRPr>
            </a:pPr>
            <a:r>
              <a:rPr sz="825" b="1">
                <a:solidFill>
                  <a:srgbClr val="8B97AA"/>
                </a:solidFill>
              </a:rPr>
              <a:t>MICROSITE RW KITA</a:t>
            </a:r>
          </a:p>
        </p:txBody>
      </p:sp>
    </p:spTree>
    <p:extLst>
      <p:ext uri="{BB962C8B-B14F-4D97-AF65-F5344CB8AC3E}">
        <p14:creationId xmlns:p14="http://schemas.microsoft.com/office/powerpoint/2010/main" val="13978622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1D9BA1-BFB1-404B-9CFD-CA7B875E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1D5"/>
                </a:solidFill>
              </a:defRPr>
            </a:pPr>
            <a:r>
              <a:rPr sz="1050" b="1">
                <a:solidFill>
                  <a:srgbClr val="0751D5"/>
                </a:solidFill>
              </a:rPr>
              <a:t>FITUR PENGGUNA PENGURUS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61896-A345-4876-B9F9-EC7A6D7A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Dashboard pengurus mempercepat pengelolaan data dan moderasi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AB951-3B04-42F5-9C35-8C298668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3F1A5-EF97-4C8A-BBB5-0BA8735D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3A7"/>
                </a:solidFill>
              </a:defRPr>
            </a:pPr>
            <a:r>
              <a:rPr sz="1050" b="1">
                <a:solidFill>
                  <a:srgbClr val="8793A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70757-6E0D-4B01-96BD-C9B2C87B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Ringkasan operasional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C1034-F1BD-48AB-9EAC-70271ACB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51D5"/>
                </a:solidFill>
              </a:defRPr>
            </a:pPr>
            <a:r>
              <a:rPr sz="3450" b="1">
                <a:solidFill>
                  <a:srgbClr val="0751D5"/>
                </a:solidFill>
              </a:rPr>
              <a:t>1.248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ED5A5-E523-424D-8C9D-D8897267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077"/>
                </a:solidFill>
              </a:defRPr>
            </a:pPr>
            <a:r>
              <a:rPr sz="1350" b="1">
                <a:solidFill>
                  <a:srgbClr val="536077"/>
                </a:solidFill>
              </a:rPr>
              <a:t>Total warga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072F8-3EC2-4349-BC15-6D7FF0FC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51D5"/>
                </a:solidFill>
              </a:defRPr>
            </a:pPr>
            <a:r>
              <a:rPr sz="3450" b="1">
                <a:solidFill>
                  <a:srgbClr val="0751D5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BB74C-558E-4F30-9ED4-39712D7A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95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077"/>
                </a:solidFill>
              </a:defRPr>
            </a:pPr>
            <a:r>
              <a:rPr sz="1350" b="1">
                <a:solidFill>
                  <a:srgbClr val="536077"/>
                </a:solidFill>
              </a:rPr>
              <a:t>Aspirasi baru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F3C10-0A18-4575-8EC2-126C0FCB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51D5"/>
                </a:solidFill>
              </a:defRPr>
            </a:pPr>
            <a:r>
              <a:rPr sz="3450" b="1">
                <a:solidFill>
                  <a:srgbClr val="0751D5"/>
                </a:solidFill>
              </a:rPr>
              <a:t>156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BEEEA-201C-41F3-BBA6-48CBEC79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077"/>
                </a:solidFill>
              </a:defRPr>
            </a:pPr>
            <a:r>
              <a:rPr sz="1350" b="1">
                <a:solidFill>
                  <a:srgbClr val="536077"/>
                </a:solidFill>
              </a:rPr>
              <a:t>Layanan selesai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22E76-3A07-4866-9A00-FCD06141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241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44C4C"/>
                </a:solidFill>
              </a:defRPr>
            </a:pPr>
            <a:r>
              <a:rPr sz="3450" b="1">
                <a:solidFill>
                  <a:srgbClr val="E44C4C"/>
                </a:solidFill>
              </a:rPr>
              <a:t>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1CAFF-9F53-4C95-A18B-6170EC86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077"/>
                </a:solidFill>
              </a:defRPr>
            </a:pPr>
            <a:r>
              <a:rPr sz="1350" b="1">
                <a:solidFill>
                  <a:srgbClr val="536077"/>
                </a:solidFill>
              </a:rPr>
              <a:t>Antrean moderasi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27AA9-28D6-4B15-AD50-1332C003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6B1FA-42BA-43F6-B9B1-711BEB52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Pengelolaan inti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3F968-F1C7-4262-B7CF-734944B8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Pengembangan layanan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B80CA-FA4B-4C10-A38A-76767FB1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C6C5A5-3DF9-4DF9-871B-455F0F09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Tambah dan filter data warga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071DA-001C-4ABD-9D13-37504503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02026-89E2-4EEE-994A-2C128E3F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283ED-7301-4501-BB70-F2F7903D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577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Kelola berita dan pengumuman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F3C83-A40F-4C8A-8DA0-D62C517C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816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A14A6D-E876-4488-9145-64FAB728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707437-DC6F-4905-B915-C8333C06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673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Verifikasi dokumen warga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90F679-813B-4805-AAED-B430C357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912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8D84D-DF55-4CA6-9F10-73B3BC56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55B6D2-BAE8-4839-BB48-611D1FB1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481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Peta digital sebaran warga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E7D9D5-2F77-4BE5-97A1-555F44F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720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805A8D-DC0C-4775-B9F8-E4DB94EA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67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6A96E1-DDD0-4534-8263-F9DC998A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577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Moderasi aspirasi dan konten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59169E-5EED-44FC-BA0C-5D30C191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816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C928FA-9AA3-4EE0-8AD7-84A2DA33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FD7483-C81F-458F-8AE6-98C303CF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673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Rencana AI analytics untuk kategorisasi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3F591A-9F40-438B-B6E8-D456EEF5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912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A42B9C-E271-4C6A-B26A-B4C0760A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7AA"/>
                </a:solidFill>
              </a:defRPr>
            </a:pPr>
            <a:r>
              <a:rPr sz="825" b="0">
                <a:solidFill>
                  <a:srgbClr val="8B97AA"/>
                </a:solidFill>
              </a:rPr>
              <a:t>Laporan Proyek Praktik Kerja Lapangan - RW KITA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C318AF-C916-438D-80EF-BFD77E34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7AA"/>
                </a:solidFill>
              </a:defRPr>
            </a:pPr>
            <a:r>
              <a:rPr sz="825" b="1">
                <a:solidFill>
                  <a:srgbClr val="8B97AA"/>
                </a:solidFill>
              </a:rPr>
              <a:t>MICROSITE RW KITA</a:t>
            </a:r>
          </a:p>
        </p:txBody>
      </p:sp>
    </p:spTree>
    <p:extLst>
      <p:ext uri="{BB962C8B-B14F-4D97-AF65-F5344CB8AC3E}">
        <p14:creationId xmlns:p14="http://schemas.microsoft.com/office/powerpoint/2010/main" val="8340124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41419-FF83-4484-93CF-A72DF6EA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1D5"/>
                </a:solidFill>
              </a:defRPr>
            </a:pPr>
            <a:r>
              <a:rPr sz="1050" b="1">
                <a:solidFill>
                  <a:srgbClr val="0751D5"/>
                </a:solidFill>
              </a:rPr>
              <a:t>PROFIL, ORGANISASI, DAN PETA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ADAAF-2180-4858-848B-DBAF0DB3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Profil RW menampilkan tata kelola hingga lokasi sekretariat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75F90-F292-4477-B074-B3361905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12424-75FD-4E3B-A8BD-2D3FE3B6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3A7"/>
                </a:solidFill>
              </a:defRPr>
            </a:pPr>
            <a:r>
              <a:rPr sz="1050" b="1">
                <a:solidFill>
                  <a:srgbClr val="8793A7"/>
                </a:solidFill>
              </a:rPr>
              <a:t>10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c0f61155444bf"/>
          <a:stretch xmlns:a="http://schemas.openxmlformats.org/drawingml/2006/main"/>
        </p:blipFill>
        <p:spPr>
          <a:xfrm xmlns:a="http://schemas.openxmlformats.org/drawingml/2006/main">
            <a:off x="6479329" y="1695450"/>
            <a:ext cx="4738791" cy="434340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A9D4F-4F50-406D-AEA7-B23FC76B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Konten yang tersedia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D9BEC-0D07-446B-81FC-00B8C2B2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F7406-54E2-48E6-AED2-B3871DA9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Visi dan misi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ED007-582F-4723-A9E8-EFCF8F64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Arah tata kelola lingkungan.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3D0FE-A15D-4837-BBD6-C2001AD4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C1828-0042-44B4-B37C-796A2AAB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Struktur organisasi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C05B9-9AF3-4BE9-9E14-D45BCC27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Ketua RW, sekretaris, bendahara, serta RT 01-08.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261CE-0BF7-46EF-ACDB-12746B2F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1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C1F83-A752-49D8-9BA8-82313F7E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Sejarah dan dasar hukum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C2AC5-6007-45F0-99C5-751DC4D2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Riwayat lingkungan dan dokumen operasional.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44E84-0836-4DF1-B403-6B4AA33A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6D8C3-AEFB-4E91-9A2C-4FC0778D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Google Maps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22F86-B848-41B9-B97F-3129E3A9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29250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Pusat lokasi di Kantor Wali Kota Administrasi Jakarta Timur.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EF6E4-0EBF-4620-A6FE-5CFD12A6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7AA"/>
                </a:solidFill>
              </a:defRPr>
            </a:pPr>
            <a:r>
              <a:rPr sz="825" b="0">
                <a:solidFill>
                  <a:srgbClr val="8B97AA"/>
                </a:solidFill>
              </a:rPr>
              <a:t>Laporan Proyek Praktik Kerja Lapangan - RW KITA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C3E88-6FED-4A55-863B-37A8FBE8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7AA"/>
                </a:solidFill>
              </a:defRPr>
            </a:pPr>
            <a:r>
              <a:rPr sz="825" b="1">
                <a:solidFill>
                  <a:srgbClr val="8B97AA"/>
                </a:solidFill>
              </a:rPr>
              <a:t>MICROSITE RW KITA</a:t>
            </a:r>
          </a:p>
        </p:txBody>
      </p:sp>
    </p:spTree>
    <p:extLst>
      <p:ext uri="{BB962C8B-B14F-4D97-AF65-F5344CB8AC3E}">
        <p14:creationId xmlns:p14="http://schemas.microsoft.com/office/powerpoint/2010/main" val="9700809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42C5B-6AB8-4D0E-8536-A189B8AD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1D5"/>
                </a:solidFill>
              </a:defRPr>
            </a:pPr>
            <a:r>
              <a:rPr sz="1050" b="1">
                <a:solidFill>
                  <a:srgbClr val="0751D5"/>
                </a:solidFill>
              </a:rPr>
              <a:t>FITUR PENDUKUNG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29FF9-47F5-4D2E-97EC-0CAD7D8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Konten publik tetap mudah dicari, diterjemahkan, dan dihubungi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EA64B-FBCF-40D4-AF32-E8BAEE9C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608CD-E969-4A50-AA81-1D135A34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3A7"/>
                </a:solidFill>
              </a:defRPr>
            </a:pPr>
            <a:r>
              <a:rPr sz="1050" b="1">
                <a:solidFill>
                  <a:srgbClr val="8793A7"/>
                </a:solidFill>
              </a:rPr>
              <a:t>11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24e8be1294f84"/>
          <a:stretch xmlns:a="http://schemas.openxmlformats.org/drawingml/2006/main"/>
        </p:blipFill>
        <p:spPr>
          <a:xfrm xmlns:a="http://schemas.openxmlformats.org/drawingml/2006/main">
            <a:off x="689122" y="1790700"/>
            <a:ext cx="6184607" cy="211455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8A6F0-A7DE-48F0-B240-6A0FCFA3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Berita interaktif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0EFA4-0DE0-4972-AFEE-F0B83871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77"/>
                </a:solidFill>
              </a:defRPr>
            </a:pPr>
            <a:r>
              <a:rPr sz="1425" b="0">
                <a:solidFill>
                  <a:srgbClr val="536077"/>
                </a:solidFill>
              </a:rPr>
              <a:t>Setiap kartu dapat dibuka menuju halaman detail dan memiliki tombol kembali ke daftar berita.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D83C1-70C7-4F03-AAD2-13972AC4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51D5"/>
                </a:solidFill>
              </a:defRPr>
            </a:pPr>
            <a:r>
              <a:rPr sz="1650" b="1">
                <a:solidFill>
                  <a:srgbClr val="0751D5"/>
                </a:solidFill>
              </a:rPr>
              <a:t>PENCARIAN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B86A4-CA0D-493B-B2B3-C1936C48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Mencari profil, berita, UMKM, arsip, produk hukum, dan kontak.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35AD3-A0C1-49E2-A919-675269D5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51D5"/>
                </a:solidFill>
              </a:defRPr>
            </a:pPr>
            <a:r>
              <a:rPr sz="1650" b="1">
                <a:solidFill>
                  <a:srgbClr val="0751D5"/>
                </a:solidFill>
              </a:rPr>
              <a:t>ID / 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96C0B-4D62-4033-82E9-5F5E6B1F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Bahasa tersimpan di localStorage dan diterapkan pada elemen halaman.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7739F-F07A-4D6A-B664-4BE4C81A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7190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51D5"/>
                </a:solidFill>
              </a:defRPr>
            </a:pPr>
            <a:r>
              <a:rPr sz="1650" b="1">
                <a:solidFill>
                  <a:srgbClr val="0751D5"/>
                </a:solidFill>
              </a:rPr>
              <a:t>WHATSAPP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B3919-0D02-4C92-836F-05001A09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Tautan pesan langsung untuk UMKM dan layanan darurat.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DCD88-7730-4FA5-8344-152065C1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51D5"/>
                </a:solidFill>
              </a:defRPr>
            </a:pPr>
            <a:r>
              <a:rPr sz="1650" b="1">
                <a:solidFill>
                  <a:srgbClr val="0751D5"/>
                </a:solidFill>
              </a:rPr>
              <a:t>RESPONSIF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79E3E-8E7E-4C48-85F8-106A65D7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863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Grid dan navigasi menyesuaikan desktop, tablet, dan ponsel.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58DC5-6B21-4FDC-ACC0-D4B4C34A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7AA"/>
                </a:solidFill>
              </a:defRPr>
            </a:pPr>
            <a:r>
              <a:rPr sz="825" b="0">
                <a:solidFill>
                  <a:srgbClr val="8B97AA"/>
                </a:solidFill>
              </a:rPr>
              <a:t>Laporan Proyek Praktik Kerja Lapangan - RW KITA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CBBB4-3C13-4B9C-BFDB-2F830633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7AA"/>
                </a:solidFill>
              </a:defRPr>
            </a:pPr>
            <a:r>
              <a:rPr sz="825" b="1">
                <a:solidFill>
                  <a:srgbClr val="8B97AA"/>
                </a:solidFill>
              </a:rPr>
              <a:t>MICROSITE RW KITA</a:t>
            </a:r>
          </a:p>
        </p:txBody>
      </p:sp>
    </p:spTree>
    <p:extLst>
      <p:ext uri="{BB962C8B-B14F-4D97-AF65-F5344CB8AC3E}">
        <p14:creationId xmlns:p14="http://schemas.microsoft.com/office/powerpoint/2010/main" val="1589375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D240C6-E0D1-44D0-8932-316C37C7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1D5"/>
                </a:solidFill>
              </a:defRPr>
            </a:pPr>
            <a:r>
              <a:rPr sz="1050" b="1">
                <a:solidFill>
                  <a:srgbClr val="0751D5"/>
                </a:solidFill>
              </a:rPr>
              <a:t>DATABASE DAN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11BDB-9B9F-47D3-9DBA-7D66B4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MySQL menyimpan identitas pengguna secara terstruktur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EA5B1-7A13-46F4-9BCC-DD9D6B98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885A0-3380-4940-8DFB-D101F718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3A7"/>
                </a:solidFill>
              </a:defRPr>
            </a:pPr>
            <a:r>
              <a:rPr sz="1050" b="1">
                <a:solidFill>
                  <a:srgbClr val="8793A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4D16E-8589-4EF0-873F-85FD356F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Tabel 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12C8E-B4CB-4C0C-9E32-2627043C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43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48986-0B4E-453D-BF3A-81B280D5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446B2-B96E-435B-AE38-3619AADF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479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51D5"/>
                </a:solidFill>
              </a:defRPr>
            </a:pPr>
            <a:r>
              <a:rPr sz="1200" b="0">
                <a:solidFill>
                  <a:srgbClr val="0751D5"/>
                </a:solidFill>
              </a:rPr>
              <a:t>BIGINT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41A27-E83A-410E-9BAD-0F340C1C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Primary 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A1D29-688B-4A17-90C5-49F1C5D4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full_name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D16F1-8132-41E0-B904-F3708D90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51D5"/>
                </a:solidFill>
              </a:defRPr>
            </a:pPr>
            <a:r>
              <a:rPr sz="1200" b="0">
                <a:solidFill>
                  <a:srgbClr val="0751D5"/>
                </a:solidFill>
              </a:rPr>
              <a:t>VARCHAR(150)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395AE-0A88-49D8-B351-EC7440C9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670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Nama lengkap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6E23A-1067-4EBF-952C-D432FB4E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143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3BB6C-D176-444D-A5B5-73C0FE18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nik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44368-6A41-4A0C-82E2-FFEEBA0C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861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51D5"/>
                </a:solidFill>
              </a:defRPr>
            </a:pPr>
            <a:r>
              <a:rPr sz="1200" b="0">
                <a:solidFill>
                  <a:srgbClr val="0751D5"/>
                </a:solidFill>
              </a:rPr>
              <a:t>VARCHAR(40)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9F074-58D8-43E1-A24A-A728D179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861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Unique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AE506-4A2C-4F50-B2EF-ABD337D4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email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CD738-62B9-4C6D-8EE4-F233930C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052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51D5"/>
                </a:solidFill>
              </a:defRPr>
            </a:pPr>
            <a:r>
              <a:rPr sz="1200" b="0">
                <a:solidFill>
                  <a:srgbClr val="0751D5"/>
                </a:solidFill>
              </a:rPr>
              <a:t>VARCHAR(255)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B9407E-9A95-4319-8142-3D87B4D0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Unique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E5D53-486F-4BA4-84B9-0E86D7B4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5143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6BAD23-B177-4900-80AF-BE264823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phone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19F408-A58D-4056-AFCD-810F6431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243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51D5"/>
                </a:solidFill>
              </a:defRPr>
            </a:pPr>
            <a:r>
              <a:rPr sz="1200" b="0">
                <a:solidFill>
                  <a:srgbClr val="0751D5"/>
                </a:solidFill>
              </a:rPr>
              <a:t>VARCHAR(30)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B12BE-B95F-4B64-AFC6-552DE61F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243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WhatsApp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6171FB-07B5-4224-9C06-F5081D67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role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6D6CF1-F9DD-483F-847A-C5C6D344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51D5"/>
                </a:solidFill>
              </a:defRPr>
            </a:pPr>
            <a:r>
              <a:rPr sz="1200" b="0">
                <a:solidFill>
                  <a:srgbClr val="0751D5"/>
                </a:solidFill>
              </a:rPr>
              <a:t>ENUM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82B197-AC47-470A-BD33-B86F398B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434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WARGA/PENGURUS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C0B1DD-2943-4277-8A07-F465FD0D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143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5999AA-07F7-4215-A245-60FBF078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password_hash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11CC91-1D6D-44A9-9D0C-DCD8120A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625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51D5"/>
                </a:solidFill>
              </a:defRPr>
            </a:pPr>
            <a:r>
              <a:rPr sz="1200" b="0">
                <a:solidFill>
                  <a:srgbClr val="0751D5"/>
                </a:solidFill>
              </a:rPr>
              <a:t>VARCHAR(255)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F1E99C-B4CC-4C93-9D4E-7D257845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625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Bcrypt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630486-5C41-4127-A5A3-63ACC28C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oauth_provider/id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39CD46-B0A5-4A37-BB6D-A6A33A6B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816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51D5"/>
                </a:solidFill>
              </a:defRPr>
            </a:pPr>
            <a:r>
              <a:rPr sz="1200" b="0">
                <a:solidFill>
                  <a:srgbClr val="0751D5"/>
                </a:solidFill>
              </a:rPr>
              <a:t>VARCHAR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8A4A09-5287-4270-87A3-13C29FE2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816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Akun sosial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7551FC-4581-4447-9096-507E73CA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Endpoint utama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920892-ECE1-460B-8537-35EC1706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C968"/>
                </a:solidFill>
              </a:defRPr>
            </a:pPr>
            <a:r>
              <a:rPr sz="1125" b="1">
                <a:solidFill>
                  <a:srgbClr val="20C968"/>
                </a:solidFill>
              </a:rPr>
              <a:t>POST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460736-D7C4-40A7-8D05-097B212D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/api/auth/register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B19848-8204-4F60-A0D2-46921927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622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77"/>
                </a:solidFill>
              </a:defRPr>
            </a:pPr>
            <a:r>
              <a:rPr sz="1125" b="0">
                <a:solidFill>
                  <a:srgbClr val="536077"/>
                </a:solidFill>
              </a:rPr>
              <a:t>Membuat akun baru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1AC512-1ED6-48C9-8303-063FFF66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337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C968"/>
                </a:solidFill>
              </a:defRPr>
            </a:pPr>
            <a:r>
              <a:rPr sz="1125" b="1">
                <a:solidFill>
                  <a:srgbClr val="20C968"/>
                </a:solidFill>
              </a:rPr>
              <a:t>POST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EE4BE6-DD51-4051-B7F3-1EB30798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33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/api/auth/login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18FC75-8468-4826-8EA0-771E6738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77"/>
                </a:solidFill>
              </a:defRPr>
            </a:pPr>
            <a:r>
              <a:rPr sz="1125" b="0">
                <a:solidFill>
                  <a:srgbClr val="536077"/>
                </a:solidFill>
              </a:rPr>
              <a:t>Validasi akun dan peran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C2FFAF-FB0B-4190-8210-80B83155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1D5"/>
                </a:solidFill>
              </a:defRPr>
            </a:pPr>
            <a:r>
              <a:rPr sz="1125" b="1">
                <a:solidFill>
                  <a:srgbClr val="0751D5"/>
                </a:solidFill>
              </a:rPr>
              <a:t>GET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0B0AA0-A311-4342-A3CB-DE7B7575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/api/auth/google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884726-74F9-4AAF-8193-AFF73FA5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9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77"/>
                </a:solidFill>
              </a:defRPr>
            </a:pPr>
            <a:r>
              <a:rPr sz="1125" b="0">
                <a:solidFill>
                  <a:srgbClr val="536077"/>
                </a:solidFill>
              </a:rPr>
              <a:t>Memulai OAuth Google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3137EE-F103-44D7-87DC-744EDF44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1D5"/>
                </a:solidFill>
              </a:defRPr>
            </a:pPr>
            <a:r>
              <a:rPr sz="1125" b="1">
                <a:solidFill>
                  <a:srgbClr val="0751D5"/>
                </a:solidFill>
              </a:rPr>
              <a:t>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029C52-23D2-424C-B7D2-36BCE939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/api/auth/google/callback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245CE4-68D1-4820-8F15-5A7C5E7F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481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77"/>
                </a:solidFill>
              </a:defRPr>
            </a:pPr>
            <a:r>
              <a:rPr sz="1125" b="0">
                <a:solidFill>
                  <a:srgbClr val="536077"/>
                </a:solidFill>
              </a:rPr>
              <a:t>Menerbitkan sesi JWT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FA8F12-EACB-405F-A9A6-3CFC74D6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1D5"/>
                </a:solidFill>
              </a:defRPr>
            </a:pPr>
            <a:r>
              <a:rPr sz="1125" b="1">
                <a:solidFill>
                  <a:srgbClr val="0751D5"/>
                </a:solidFill>
              </a:rPr>
              <a:t>GET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300163-E0D0-43A2-BCB6-8CB2620F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/api/auth/facebook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05BBC0-11FE-44BF-9198-E632D841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768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77"/>
                </a:solidFill>
              </a:defRPr>
            </a:pPr>
            <a:r>
              <a:rPr sz="1125" b="0">
                <a:solidFill>
                  <a:srgbClr val="536077"/>
                </a:solidFill>
              </a:rPr>
              <a:t>Memulai OAuth Facebook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2273DF-A908-429A-B9D5-0AF91BD9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483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1D5"/>
                </a:solidFill>
              </a:defRPr>
            </a:pPr>
            <a:r>
              <a:rPr sz="1125" b="1">
                <a:solidFill>
                  <a:srgbClr val="0751D5"/>
                </a:solidFill>
              </a:rPr>
              <a:t>GET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ABA215-427C-4E8E-A4AE-822B24E6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48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/api/auth/facebook/callback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B18748-C761-427D-898D-7F15D6C5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054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77"/>
                </a:solidFill>
              </a:defRPr>
            </a:pPr>
            <a:r>
              <a:rPr sz="1125" b="0">
                <a:solidFill>
                  <a:srgbClr val="536077"/>
                </a:solidFill>
              </a:rPr>
              <a:t>Menyelesaikan login sosial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ACCF67-AF74-4212-BA18-374BF88A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7AA"/>
                </a:solidFill>
              </a:defRPr>
            </a:pPr>
            <a:r>
              <a:rPr sz="825" b="0">
                <a:solidFill>
                  <a:srgbClr val="8B97AA"/>
                </a:solidFill>
              </a:rPr>
              <a:t>Laporan Proyek Praktik Kerja Lapangan - RW KITA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07D7EC-D68D-4474-99DA-861A257F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7AA"/>
                </a:solidFill>
              </a:defRPr>
            </a:pPr>
            <a:r>
              <a:rPr sz="825" b="1">
                <a:solidFill>
                  <a:srgbClr val="8B97AA"/>
                </a:solidFill>
              </a:rPr>
              <a:t>MICROSITE RW KITA</a:t>
            </a:r>
          </a:p>
        </p:txBody>
      </p:sp>
    </p:spTree>
    <p:extLst>
      <p:ext uri="{BB962C8B-B14F-4D97-AF65-F5344CB8AC3E}">
        <p14:creationId xmlns:p14="http://schemas.microsoft.com/office/powerpoint/2010/main" val="634050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4EE03B-28DF-4FF2-AE76-B3B4627C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1D5"/>
                </a:solidFill>
              </a:defRPr>
            </a:pPr>
            <a:r>
              <a:rPr sz="1050" b="1">
                <a:solidFill>
                  <a:srgbClr val="0751D5"/>
                </a:solidFill>
              </a:rPr>
              <a:t>VERIFIKASI IMPLEMENTASI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732C3-220E-4DCB-AEA7-A0E94FEA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Pengujian memastikan alur utama dapat dijalankan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6E481-63D0-44FA-9131-23874E38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D6DB4-7378-4B30-84B8-3EE10351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3A7"/>
                </a:solidFill>
              </a:defRPr>
            </a:pPr>
            <a:r>
              <a:rPr sz="1050" b="1">
                <a:solidFill>
                  <a:srgbClr val="8793A7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0E6AC-A7AF-42AA-918E-19AB8270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801C2-394E-4644-9A23-1D6DE52B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47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Kompilasi TypeScript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87F19-4DD1-4BCA-AE72-F2AAF6C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Berhasil tanpa error melalui tsc --noEmit.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CCA7C-F8BE-4A5E-8277-8D4F2814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384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C91FC-BE4D-4B55-9DE8-0A536070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C8D85-EEB7-4910-8141-6C9EF42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Routing halaman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7733A-A1C2-489A-BBB5-C6106326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Landing, profil, berita, detail berita, login, register, dan portal merespons.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A4FA1-F5EE-4354-AB41-867EBCD2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2282C-DC74-4606-8955-65AE4412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C7053-3B53-4FD9-87D9-FE9FCB19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Aset lokal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79459-8E09-487F-A6E5-5F9A47F6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Font Inter, Plus Jakarta Sans, dan gambar landing dapat dimuat.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D4B31-7BFE-48BC-8392-F0598D85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B5054-AA34-4C54-B889-D3DAA7D6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E1C92-F0E7-4671-A45C-82C33419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Peta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E8D4E-BA46-48F3-A6C5-F22D56D9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Embed Google Maps dan tautan petunjuk arah tersedia.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85DB0-C1DB-432F-B684-7FD35E85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65418-7EC8-41ED-BABA-937EDBD1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EF5DA-24C1-469A-85C3-09BFF4B7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Interaksi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3A5BA-C5A5-4CB9-90F5-381F20DD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720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7"/>
                </a:solidFill>
              </a:defRPr>
            </a:pPr>
            <a:r>
              <a:rPr sz="1350" b="0">
                <a:solidFill>
                  <a:srgbClr val="536077"/>
                </a:solidFill>
              </a:rPr>
              <a:t>Kartu berita, WhatsApp, pencarian, bahasa, dan tombol dashboard memiliki handler.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741AF-7828-4F3D-A530-683D0459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626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5E19AA-343E-4830-83CB-B2491F9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2C466C-7CBB-4B32-A10B-26B9E1B0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198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A00"/>
                </a:solidFill>
              </a:defRPr>
            </a:pPr>
            <a:r>
              <a:rPr sz="1275" b="1">
                <a:solidFill>
                  <a:srgbClr val="8B5A00"/>
                </a:solidFill>
              </a:rPr>
              <a:t>Catatan produksi: OAuth memerlukan kredensial resmi dan MySQL memerlukan konfigurasi .env pada server tujuan.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89DFB2-A6C9-48D0-8001-B5A24A33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7AA"/>
                </a:solidFill>
              </a:defRPr>
            </a:pPr>
            <a:r>
              <a:rPr sz="825" b="0">
                <a:solidFill>
                  <a:srgbClr val="8B97AA"/>
                </a:solidFill>
              </a:rPr>
              <a:t>Laporan Proyek Praktik Kerja Lapangan - RW KITA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490EFC-11B8-4E22-B029-578C4217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7AA"/>
                </a:solidFill>
              </a:defRPr>
            </a:pPr>
            <a:r>
              <a:rPr sz="825" b="1">
                <a:solidFill>
                  <a:srgbClr val="8B97AA"/>
                </a:solidFill>
              </a:rPr>
              <a:t>MICROSITE RW KITA</a:t>
            </a:r>
          </a:p>
        </p:txBody>
      </p:sp>
    </p:spTree>
    <p:extLst>
      <p:ext uri="{BB962C8B-B14F-4D97-AF65-F5344CB8AC3E}">
        <p14:creationId xmlns:p14="http://schemas.microsoft.com/office/powerpoint/2010/main" val="17891953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2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86EB6-ABF6-4E68-BBE7-48A0CA8D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B5FF"/>
                </a:solidFill>
              </a:defRPr>
            </a:pPr>
            <a:r>
              <a:rPr sz="1125" b="1">
                <a:solidFill>
                  <a:srgbClr val="8DB5FF"/>
                </a:solidFill>
              </a:rPr>
              <a:t>HASIL PROYEK PKL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FDE99-6C4A-456D-8D05-B5B416C0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Prototipe fullstack RW KITA telah membentuk fondasi layanan digital tingkat RW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4E72B-6050-44EB-9A48-D2AD2B6E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CB46A-FC97-444B-B883-64753156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DB5FF"/>
                </a:solidFill>
              </a:defRPr>
            </a:pPr>
            <a:r>
              <a:rPr sz="1650" b="1">
                <a:solidFill>
                  <a:srgbClr val="8DB5FF"/>
                </a:solidFill>
              </a:rPr>
              <a:t>TERINTEGRASI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F25F9-0B49-4479-856D-3C86FD03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F4"/>
                </a:solidFill>
              </a:defRPr>
            </a:pPr>
            <a:r>
              <a:rPr sz="1500" b="0">
                <a:solidFill>
                  <a:srgbClr val="D7E3F4"/>
                </a:solidFill>
              </a:rPr>
              <a:t>Frontend Next.js, backend Express, autentikasi, dan MySQL saling terhubung.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AB5BE-FF5D-49AC-9C3E-5B3C1D8A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DB5FF"/>
                </a:solidFill>
              </a:defRPr>
            </a:pPr>
            <a:r>
              <a:rPr sz="1650" b="1">
                <a:solidFill>
                  <a:srgbClr val="8DB5FF"/>
                </a:solidFill>
              </a:rPr>
              <a:t>BERBASIS PERAN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0B8A5-BADE-46B2-B0C9-38C4475E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909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F4"/>
                </a:solidFill>
              </a:defRPr>
            </a:pPr>
            <a:r>
              <a:rPr sz="1500" b="0">
                <a:solidFill>
                  <a:srgbClr val="D7E3F4"/>
                </a:solidFill>
              </a:rPr>
              <a:t>Warga dan pengurus memperoleh dashboard serta kewenangan yang berbeda.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356C0-BCC2-4C55-82C8-FF677AC7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90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DB5FF"/>
                </a:solidFill>
              </a:defRPr>
            </a:pPr>
            <a:r>
              <a:rPr sz="1650" b="1">
                <a:solidFill>
                  <a:srgbClr val="8DB5FF"/>
                </a:solidFill>
              </a:rPr>
              <a:t>SIAP DIKEMBANGKAN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E08D1-C844-45F3-9A66-4793A085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F4"/>
                </a:solidFill>
              </a:defRPr>
            </a:pPr>
            <a:r>
              <a:rPr sz="1500" b="0">
                <a:solidFill>
                  <a:srgbClr val="D7E3F4"/>
                </a:solidFill>
              </a:rPr>
              <a:t>Struktur saat ini dapat diperluas untuk surat digital, pembayaran, dan analitik.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07928-4C2C-46CC-BF11-A4DCE8C4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Tahap berikutnya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4B4C7-0523-4C92-A2A1-D56A83B2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D"/>
                </a:solidFill>
              </a:defRPr>
            </a:pPr>
            <a:r>
              <a:rPr sz="1575" b="0">
                <a:solidFill>
                  <a:srgbClr val="B9C9DD"/>
                </a:solidFill>
              </a:rPr>
              <a:t>RBAC middleware • modul data operasional • unggah dokumen • audit log • deployment produksi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0BF84-A9D1-4E92-A5DB-C666203A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72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RW KITA</a:t>
            </a:r>
          </a:p>
        </p:txBody>
      </p:sp>
    </p:spTree>
    <p:extLst>
      <p:ext uri="{BB962C8B-B14F-4D97-AF65-F5344CB8AC3E}">
        <p14:creationId xmlns:p14="http://schemas.microsoft.com/office/powerpoint/2010/main" val="2019740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2026-08-24T04:19:27.5970000Z</dcterms:created>
  <dcterms:modified xsi:type="dcterms:W3CDTF">2026-08-24T04:19:27.5970000Z</dcterms:modified>
</coreProperties>
</file>